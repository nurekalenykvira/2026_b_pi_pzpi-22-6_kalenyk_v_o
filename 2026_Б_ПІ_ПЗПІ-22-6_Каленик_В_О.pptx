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78" r:id="rId10"/>
    <p:sldId id="279" r:id="rId11"/>
    <p:sldId id="273" r:id="rId12"/>
    <p:sldId id="264" r:id="rId13"/>
    <p:sldId id="271" r:id="rId14"/>
    <p:sldId id="265" r:id="rId15"/>
    <p:sldId id="274" r:id="rId16"/>
    <p:sldId id="275" r:id="rId17"/>
    <p:sldId id="280" r:id="rId18"/>
    <p:sldId id="276" r:id="rId19"/>
    <p:sldId id="281" r:id="rId20"/>
    <p:sldId id="282" r:id="rId21"/>
    <p:sldId id="283" r:id="rId22"/>
    <p:sldId id="284" r:id="rId23"/>
    <p:sldId id="267" r:id="rId24"/>
  </p:sldIdLst>
  <p:sldSz cx="9144000" cy="5143500" type="screen16x9"/>
  <p:notesSz cx="6858000" cy="9144000"/>
  <p:embeddedFontLst>
    <p:embeddedFont>
      <p:font typeface="Economica" panose="020B0604020202020204" charset="0"/>
      <p:regular r:id="rId26"/>
      <p:bold r:id="rId27"/>
      <p:italic r:id="rId28"/>
      <p:boldItalic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Times" panose="02020603050405020304" pitchFamily="18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A677"/>
    <a:srgbClr val="99FFCC"/>
    <a:srgbClr val="003400"/>
    <a:srgbClr val="6337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06799F8-075E-4A3A-A7F6-7FBC6576F1A4}" styleName="Стиль із теми 2 –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1E4AEA4-8DFA-4A89-87EB-49C32662AFE0}" styleName="Помірний стиль 2 –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C000461-5AC5-7E54-2EE2-F74F239F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>
            <a:extLst>
              <a:ext uri="{FF2B5EF4-FFF2-40B4-BE49-F238E27FC236}">
                <a16:creationId xmlns:a16="http://schemas.microsoft.com/office/drawing/2014/main" id="{2002B3F2-BD67-62DD-25F7-428837D955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>
            <a:extLst>
              <a:ext uri="{FF2B5EF4-FFF2-40B4-BE49-F238E27FC236}">
                <a16:creationId xmlns:a16="http://schemas.microsoft.com/office/drawing/2014/main" id="{57305A2C-FB5B-9A3E-CBB5-EE85A91490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3910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1500749D-B722-9686-4514-2CE764F6C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>
            <a:extLst>
              <a:ext uri="{FF2B5EF4-FFF2-40B4-BE49-F238E27FC236}">
                <a16:creationId xmlns:a16="http://schemas.microsoft.com/office/drawing/2014/main" id="{66C1C680-C2B7-04D6-4FDB-F9A9F951F8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>
            <a:extLst>
              <a:ext uri="{FF2B5EF4-FFF2-40B4-BE49-F238E27FC236}">
                <a16:creationId xmlns:a16="http://schemas.microsoft.com/office/drawing/2014/main" id="{8E90AEF9-0D64-B8D7-5FE5-43816D68FF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258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857DA3B5-BB49-CA7E-BE78-49BB9A67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>
            <a:extLst>
              <a:ext uri="{FF2B5EF4-FFF2-40B4-BE49-F238E27FC236}">
                <a16:creationId xmlns:a16="http://schemas.microsoft.com/office/drawing/2014/main" id="{CF4B12F1-B7FD-DECB-4494-E1628EFB2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>
            <a:extLst>
              <a:ext uri="{FF2B5EF4-FFF2-40B4-BE49-F238E27FC236}">
                <a16:creationId xmlns:a16="http://schemas.microsoft.com/office/drawing/2014/main" id="{72D87C85-90B5-CE72-2C88-E67F44023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32688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B2D3ADC-F661-C593-D909-A360F6D2A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C58CB197-3FDA-3F41-4898-311E48CF7B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F2B8AE83-CA04-8DFF-7954-92E63F57D2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605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0C108C8-9E80-A38B-D3EB-23F6DC318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A0BCD60F-6725-BB8A-B227-C3001A7420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A8CAD212-6AE0-DF8A-8187-B242344F3A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50551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27F5AB7E-11DF-D718-FCCC-310DC9211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D6183C16-386A-6181-C792-364362F75E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581DC272-EDEB-3D15-9899-3B62945A8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188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F738147-D1A5-BAA6-74A1-494D467E6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0AA04B18-E78E-9A79-0C3E-5D7492D735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83670C9C-07B7-1860-982E-492C0B6B0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544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AE78CC1F-1D03-9582-D8F6-8BDDE212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C1F03785-39E0-D99A-156E-196C3CD902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38B0EF4B-2E85-98FD-CAD7-91896C6F16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4150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D2C20C64-8898-9746-F841-8AC3C955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679A85A0-7342-97D8-DE61-2437424E2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0263185F-2926-0BD5-373F-930DD7827D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63927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6C545CBB-9838-86E2-A79F-A5E98D55B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FA204C51-6CC0-7620-D814-651B00D026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A3340127-4885-C5C8-4917-7FDDB65157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21280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7A6B25E7-4289-4EEC-84AF-DF21D566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3C84F2AE-C42C-4DD2-15A8-208C5E8EF2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554E2F88-2D89-FE48-F08E-5422A2B767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8592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25CE4696-FA28-FA28-C247-51C8C0408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C3162707-19F8-FEA7-0B75-5B1E42779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6FDCABA6-D3C3-3232-D9ED-93F8421161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2927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3ED09D71-00D6-6054-0A4D-3144FC29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>
            <a:extLst>
              <a:ext uri="{FF2B5EF4-FFF2-40B4-BE49-F238E27FC236}">
                <a16:creationId xmlns:a16="http://schemas.microsoft.com/office/drawing/2014/main" id="{A2A9430A-070C-6F56-B9E3-97D9FAFE3A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>
            <a:extLst>
              <a:ext uri="{FF2B5EF4-FFF2-40B4-BE49-F238E27FC236}">
                <a16:creationId xmlns:a16="http://schemas.microsoft.com/office/drawing/2014/main" id="{4C122287-4B41-5D55-5C19-18DD6C86F5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9612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5.png"/><Relationship Id="rId21" Type="http://schemas.openxmlformats.org/officeDocument/2006/relationships/image" Target="../media/image22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1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6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9.png"/><Relationship Id="rId18" Type="http://schemas.openxmlformats.org/officeDocument/2006/relationships/image" Target="../media/image25.png"/><Relationship Id="rId3" Type="http://schemas.openxmlformats.org/officeDocument/2006/relationships/image" Target="../media/image24.jpeg"/><Relationship Id="rId21" Type="http://schemas.openxmlformats.org/officeDocument/2006/relationships/image" Target="../media/image26.png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7.png"/><Relationship Id="rId20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4.png"/><Relationship Id="rId5" Type="http://schemas.openxmlformats.org/officeDocument/2006/relationships/image" Target="../media/image1.png"/><Relationship Id="rId15" Type="http://schemas.openxmlformats.org/officeDocument/2006/relationships/image" Target="../media/image16.png"/><Relationship Id="rId10" Type="http://schemas.openxmlformats.org/officeDocument/2006/relationships/image" Target="../media/image19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9CEB41-4F16-D09B-69CF-EA9C87C6C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3448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8C892EC-3D9E-B539-C225-932F8D16E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591" y="839409"/>
            <a:ext cx="1905266" cy="165758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242B7B7-9946-8391-D89A-5E5579F3E8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236" y="2418530"/>
            <a:ext cx="1867161" cy="1781424"/>
          </a:xfrm>
          <a:prstGeom prst="rect">
            <a:avLst/>
          </a:prstGeom>
        </p:spPr>
      </p:pic>
      <p:sp>
        <p:nvSpPr>
          <p:cNvPr id="13" name="Google Shape;62;p13">
            <a:extLst>
              <a:ext uri="{FF2B5EF4-FFF2-40B4-BE49-F238E27FC236}">
                <a16:creationId xmlns:a16="http://schemas.microsoft.com/office/drawing/2014/main" id="{D926B36F-7B58-9325-A18B-0D52772E497C}"/>
              </a:ext>
            </a:extLst>
          </p:cNvPr>
          <p:cNvSpPr txBox="1">
            <a:spLocks/>
          </p:cNvSpPr>
          <p:nvPr/>
        </p:nvSpPr>
        <p:spPr>
          <a:xfrm>
            <a:off x="947854" y="1180087"/>
            <a:ext cx="7248291" cy="101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algn="ctr"/>
            <a:br>
              <a:rPr lang="ru-RU" sz="2000" b="1">
                <a:latin typeface="Times" panose="02020603050405020304" pitchFamily="18" charset="0"/>
                <a:ea typeface="Times" panose="02020603050405020304" pitchFamily="18" charset="0"/>
                <a:cs typeface="Times New Roman" panose="02020603050405020304" pitchFamily="18" charset="0"/>
              </a:rPr>
            </a:br>
            <a:r>
              <a:rPr lang="ru-RU" sz="2000" b="1"/>
              <a:t>Кваліфікаційна робота бакалавра на тему:</a:t>
            </a:r>
          </a:p>
          <a:p>
            <a:pPr algn="ctr"/>
            <a:r>
              <a:rPr lang="ru-RU" sz="2000" b="1"/>
              <a:t>«Блокчейн-орієнтована система організації та проведення електронних голосувань»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B338D8-531F-2A85-C3D6-9E731B742378}"/>
              </a:ext>
            </a:extLst>
          </p:cNvPr>
          <p:cNvSpPr txBox="1"/>
          <p:nvPr/>
        </p:nvSpPr>
        <p:spPr>
          <a:xfrm>
            <a:off x="951571" y="2984832"/>
            <a:ext cx="73895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Times" panose="02020603050405020304" pitchFamily="18" charset="0"/>
                <a:cs typeface="Times" panose="02020603050405020304" pitchFamily="18" charset="0"/>
              </a:rPr>
              <a:t>    Виконала:                                       		       Науковий керівнник: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Times" panose="02020603050405020304" pitchFamily="18" charset="0"/>
                <a:cs typeface="Times" panose="02020603050405020304" pitchFamily="18" charset="0"/>
              </a:rPr>
              <a:t>    ст. гр. ПЗПІ-22-6,                           		       ст. викладач каф. ПІ,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latin typeface="Times" panose="02020603050405020304" pitchFamily="18" charset="0"/>
                <a:cs typeface="Times" panose="02020603050405020304" pitchFamily="18" charset="0"/>
              </a:rPr>
              <a:t>    Каленик В. О.                                 		       Сковороднікова В. 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4CC0E6F-FFA4-A017-D2B0-6FA97371C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9FA4B0B4-AF49-E470-50B9-198E1D9D45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37503F6A-569B-71EF-26B2-674F44057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8729" y="794976"/>
            <a:ext cx="8466541" cy="35645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buNone/>
            </a:pPr>
            <a:r>
              <a:rPr lang="uk-UA" b="1">
                <a:latin typeface="Times" panose="02020603050405020304" pitchFamily="18" charset="0"/>
                <a:cs typeface="Times" panose="02020603050405020304" pitchFamily="18" charset="0"/>
              </a:rPr>
              <a:t>Мета: </a:t>
            </a:r>
          </a:p>
          <a:p>
            <a:pPr>
              <a:buNone/>
            </a:pPr>
            <a:r>
              <a:rPr lang="ru-RU">
                <a:latin typeface="Times" panose="02020603050405020304" pitchFamily="18" charset="0"/>
                <a:cs typeface="Times" panose="02020603050405020304" pitchFamily="18" charset="0"/>
              </a:rPr>
              <a:t>	створити веб-платформу електронного голосування з використанням блокчейн технологій, що забезпечує організацію голосувань, безпечну участь та незалежну верифікацію результатів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  <a:p>
            <a:pPr>
              <a:buNone/>
            </a:pPr>
            <a:endParaRPr lang="uk-UA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None/>
            </a:pPr>
            <a:r>
              <a:rPr lang="uk-UA" b="1">
                <a:latin typeface="Times" panose="02020603050405020304" pitchFamily="18" charset="0"/>
                <a:cs typeface="Times" panose="02020603050405020304" pitchFamily="18" charset="0"/>
              </a:rPr>
              <a:t>Актуальність:</a:t>
            </a:r>
            <a:endParaRPr lang="uk-UA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>
                <a:latin typeface="Times" panose="02020603050405020304" pitchFamily="18" charset="0"/>
                <a:cs typeface="Times" panose="02020603050405020304" pitchFamily="18" charset="0"/>
              </a:rPr>
              <a:t>традиційні системи голосування не забезпечують прозорості та незалежної перевірки результатів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>
                <a:latin typeface="Times" panose="02020603050405020304" pitchFamily="18" charset="0"/>
                <a:cs typeface="Times" panose="02020603050405020304" pitchFamily="18" charset="0"/>
              </a:rPr>
              <a:t>існуючі електронні рішення централізовані — довіра до результатів залежить від оператора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>
                <a:latin typeface="Times" panose="02020603050405020304" pitchFamily="18" charset="0"/>
                <a:cs typeface="Times" panose="02020603050405020304" pitchFamily="18" charset="0"/>
              </a:rPr>
              <a:t>блокчейн дозволяє зафіксувати результати публічно та незмінно, без довіри до третьої сторони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  <a:endParaRPr lang="uk-UA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73" name="Google Shape;73;p14">
            <a:extLst>
              <a:ext uri="{FF2B5EF4-FFF2-40B4-BE49-F238E27FC236}">
                <a16:creationId xmlns:a16="http://schemas.microsoft.com/office/drawing/2014/main" id="{BEB3022C-0970-525C-683C-AF67A323F0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AF835A-AEF7-D113-4C92-B4F743A7385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/>
              <a:t>2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3898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A372DCB5-5035-4B07-30C3-3CD276A59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6731290"/>
              </p:ext>
            </p:extLst>
          </p:nvPr>
        </p:nvGraphicFramePr>
        <p:xfrm>
          <a:off x="438615" y="756405"/>
          <a:ext cx="8266769" cy="3715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1986">
                  <a:extLst>
                    <a:ext uri="{9D8B030D-6E8A-4147-A177-3AD203B41FA5}">
                      <a16:colId xmlns:a16="http://schemas.microsoft.com/office/drawing/2014/main" val="2224243651"/>
                    </a:ext>
                  </a:extLst>
                </a:gridCol>
                <a:gridCol w="2789194">
                  <a:extLst>
                    <a:ext uri="{9D8B030D-6E8A-4147-A177-3AD203B41FA5}">
                      <a16:colId xmlns:a16="http://schemas.microsoft.com/office/drawing/2014/main" val="1553962873"/>
                    </a:ext>
                  </a:extLst>
                </a:gridCol>
                <a:gridCol w="2755589">
                  <a:extLst>
                    <a:ext uri="{9D8B030D-6E8A-4147-A177-3AD203B41FA5}">
                      <a16:colId xmlns:a16="http://schemas.microsoft.com/office/drawing/2014/main" val="828770853"/>
                    </a:ext>
                  </a:extLst>
                </a:gridCol>
              </a:tblGrid>
              <a:tr h="403126"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Сервіс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Основні можливості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Обмеження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422506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Voatz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Блокчейн, біометрична автентифікація, перевірка голосів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Закритий код, відсутність незалежного аудиту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7822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Helios Voting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Відкритий код, криптографічна перевірка результатів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Відсутність блокчейну, застарілий інтерфейс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6588530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lang="en-GB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B-Voting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Блокчейн, анонімність, корпоративні сценарії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Комерційне закрите рішення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573861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Лозовий Д. В., КР бакалавра ХНУРЕ, 2025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Ключові модулі голосування, продумана архітектура</a:t>
                      </a:r>
                      <a:endParaRPr lang="uk-UA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uk-UA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Спрощена блокчейн-логіка, відсутність криптографічної перевірки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421625"/>
                  </a:ext>
                </a:extLst>
              </a:tr>
            </a:tbl>
          </a:graphicData>
        </a:graphic>
      </p:graphicFrame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414528" y="645024"/>
            <a:ext cx="8363712" cy="39613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uk-UA" sz="1400" b="1">
                <a:latin typeface="Times" panose="02020603050405020304" pitchFamily="18" charset="0"/>
                <a:cs typeface="Times" panose="02020603050405020304" pitchFamily="18" charset="0"/>
              </a:rPr>
              <a:t>Проблема: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>
                <a:latin typeface="Times" panose="02020603050405020304" pitchFamily="18" charset="0"/>
                <a:cs typeface="Times" panose="02020603050405020304" pitchFamily="18" charset="0"/>
              </a:rPr>
              <a:t>існуючі рішення централізовані або з закритим кодом</a:t>
            </a:r>
            <a:r>
              <a:rPr lang="en-US" sz="14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  <a:endParaRPr lang="uk-UA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400">
                <a:latin typeface="Times" panose="02020603050405020304" pitchFamily="18" charset="0"/>
                <a:cs typeface="Times" panose="02020603050405020304" pitchFamily="18" charset="0"/>
              </a:rPr>
              <a:t>виборець не може незалежно верифікувати свій голос</a:t>
            </a: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відсутній баланс між безпекою, прозорістю та зручністю.</a:t>
            </a:r>
            <a:endParaRPr 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uk-UA" sz="1400" b="1">
                <a:latin typeface="Times" panose="02020603050405020304" pitchFamily="18" charset="0"/>
                <a:cs typeface="Times" panose="02020603050405020304" pitchFamily="18" charset="0"/>
              </a:rPr>
              <a:t>Завдання проєкту: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розробити веб-застосунок</a:t>
            </a:r>
            <a:r>
              <a:rPr lang="en-GB" sz="1400">
                <a:latin typeface="Times" panose="02020603050405020304" pitchFamily="18" charset="0"/>
                <a:cs typeface="Times" panose="02020603050405020304" pitchFamily="18" charset="0"/>
              </a:rPr>
              <a:t> (Angular, Python/FastAPI, PostgreSQL)</a:t>
            </a: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 з підтримкою ролей організатора, виборця, аудитора та адміністратора;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реалізувати криптографічну верифікацію голосу та інтеграцію зі смартконтрактом </a:t>
            </a:r>
            <a:r>
              <a:rPr lang="en-GB" sz="1400">
                <a:latin typeface="Times" panose="02020603050405020304" pitchFamily="18" charset="0"/>
                <a:cs typeface="Times" panose="02020603050405020304" pitchFamily="18" charset="0"/>
              </a:rPr>
              <a:t>Solidity </a:t>
            </a: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в мережі </a:t>
            </a:r>
            <a:r>
              <a:rPr lang="en-GB" sz="1400">
                <a:latin typeface="Times" panose="02020603050405020304" pitchFamily="18" charset="0"/>
                <a:cs typeface="Times" panose="02020603050405020304" pitchFamily="18" charset="0"/>
              </a:rPr>
              <a:t>Ethereum Sepolia</a:t>
            </a: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>
                <a:latin typeface="Times" panose="02020603050405020304" pitchFamily="18" charset="0"/>
                <a:cs typeface="Times" panose="02020603050405020304" pitchFamily="18" charset="0"/>
              </a:rPr>
              <a:t>забезпечити розгортання через Docker та повний цикл керування голосуванням.</a:t>
            </a:r>
            <a:endParaRPr lang="en-US" sz="14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uk-UA" sz="1400" b="1">
                <a:latin typeface="Times" panose="02020603050405020304" pitchFamily="18" charset="0"/>
                <a:cs typeface="Times" panose="02020603050405020304" pitchFamily="18" charset="0"/>
              </a:rPr>
              <a:t>Очікувані результати: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>
                <a:latin typeface="Times" panose="02020603050405020304" pitchFamily="18" charset="0"/>
                <a:cs typeface="Times" panose="02020603050405020304" pitchFamily="18" charset="0"/>
              </a:rPr>
              <a:t>прозора платформа з відкритим кодом</a:t>
            </a: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uk-UA" sz="1400">
                <a:latin typeface="Times" panose="02020603050405020304" pitchFamily="18" charset="0"/>
                <a:cs typeface="Times" panose="02020603050405020304" pitchFamily="18" charset="0"/>
              </a:rPr>
              <a:t>публічна блокчейн-верифікація результатів;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>
                <a:latin typeface="Times" panose="02020603050405020304" pitchFamily="18" charset="0"/>
                <a:cs typeface="Times" panose="02020603050405020304" pitchFamily="18" charset="0"/>
              </a:rPr>
              <a:t>можливість виборця самостійно підтвердити зарахування голосу незалежно від платформи</a:t>
            </a:r>
            <a:r>
              <a:rPr lang="uk-UA" sz="1400"/>
              <a:t>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Picture 26" descr="Cloudinary Icon SVG Vector &amp; PNG Free Download | UXWing">
            <a:extLst>
              <a:ext uri="{FF2B5EF4-FFF2-40B4-BE49-F238E27FC236}">
                <a16:creationId xmlns:a16="http://schemas.microsoft.com/office/drawing/2014/main" id="{10F3886E-F2BB-85F7-4FA3-AA4EF905D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2342" y="3328277"/>
            <a:ext cx="716931" cy="71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Learn how to use TypeScript to build Angular Apps | malcoded.com">
            <a:extLst>
              <a:ext uri="{FF2B5EF4-FFF2-40B4-BE49-F238E27FC236}">
                <a16:creationId xmlns:a16="http://schemas.microsoft.com/office/drawing/2014/main" id="{33508F6A-D0FF-7F58-C71D-88CC86D30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91" y="1886088"/>
            <a:ext cx="1732652" cy="97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2050" name="Picture 2" descr="Angular icon vector logo in (eps, svg) for free - Brandlogos.net">
            <a:extLst>
              <a:ext uri="{FF2B5EF4-FFF2-40B4-BE49-F238E27FC236}">
                <a16:creationId xmlns:a16="http://schemas.microsoft.com/office/drawing/2014/main" id="{1A23A94F-8D19-A950-4B72-07D734A51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28" y="1412040"/>
            <a:ext cx="452492" cy="47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Using Sass &amp; PostCSS Together">
            <a:extLst>
              <a:ext uri="{FF2B5EF4-FFF2-40B4-BE49-F238E27FC236}">
                <a16:creationId xmlns:a16="http://schemas.microsoft.com/office/drawing/2014/main" id="{877FCA2B-96A0-E58D-FAEB-6F6D1D464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917" y="1427620"/>
            <a:ext cx="526387" cy="52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GitHub icon in iOS Filled Style">
            <a:extLst>
              <a:ext uri="{FF2B5EF4-FFF2-40B4-BE49-F238E27FC236}">
                <a16:creationId xmlns:a16="http://schemas.microsoft.com/office/drawing/2014/main" id="{FB70F653-0FA3-6CB5-47D0-59D54711B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332" y="3450215"/>
            <a:ext cx="572939" cy="57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HTML5 — Википедия">
            <a:extLst>
              <a:ext uri="{FF2B5EF4-FFF2-40B4-BE49-F238E27FC236}">
                <a16:creationId xmlns:a16="http://schemas.microsoft.com/office/drawing/2014/main" id="{9310AA67-007A-3403-3FD1-3A9AF24A4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83" y="2063044"/>
            <a:ext cx="616101" cy="616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Бесплатный VPN для Figma 2025 – быстрый и безопасный доступ | FineVPN">
            <a:extLst>
              <a:ext uri="{FF2B5EF4-FFF2-40B4-BE49-F238E27FC236}">
                <a16:creationId xmlns:a16="http://schemas.microsoft.com/office/drawing/2014/main" id="{03C49068-4A2E-0C2D-D7B2-4E1621811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081" y="1389197"/>
            <a:ext cx="634074" cy="634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88ABBD5C-42FB-305A-1A9A-222487B697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4634154"/>
              </p:ext>
            </p:extLst>
          </p:nvPr>
        </p:nvGraphicFramePr>
        <p:xfrm>
          <a:off x="482708" y="909320"/>
          <a:ext cx="81820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348">
                  <a:extLst>
                    <a:ext uri="{9D8B030D-6E8A-4147-A177-3AD203B41FA5}">
                      <a16:colId xmlns:a16="http://schemas.microsoft.com/office/drawing/2014/main" val="2308549371"/>
                    </a:ext>
                  </a:extLst>
                </a:gridCol>
                <a:gridCol w="2727348">
                  <a:extLst>
                    <a:ext uri="{9D8B030D-6E8A-4147-A177-3AD203B41FA5}">
                      <a16:colId xmlns:a16="http://schemas.microsoft.com/office/drawing/2014/main" val="2761112292"/>
                    </a:ext>
                  </a:extLst>
                </a:gridCol>
                <a:gridCol w="2727348">
                  <a:extLst>
                    <a:ext uri="{9D8B030D-6E8A-4147-A177-3AD203B41FA5}">
                      <a16:colId xmlns:a16="http://schemas.microsoft.com/office/drawing/2014/main" val="10034748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  <a:endParaRPr lang="uk-UA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  <a:endParaRPr lang="uk-UA" sz="16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База даних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419595"/>
                  </a:ext>
                </a:extLst>
              </a:tr>
            </a:tbl>
          </a:graphicData>
        </a:graphic>
      </p:graphicFrame>
      <p:graphicFrame>
        <p:nvGraphicFramePr>
          <p:cNvPr id="4" name="Таблиця 3">
            <a:extLst>
              <a:ext uri="{FF2B5EF4-FFF2-40B4-BE49-F238E27FC236}">
                <a16:creationId xmlns:a16="http://schemas.microsoft.com/office/drawing/2014/main" id="{94B93F4C-E8A5-5F2B-211C-FDAACA02D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701281"/>
              </p:ext>
            </p:extLst>
          </p:nvPr>
        </p:nvGraphicFramePr>
        <p:xfrm>
          <a:off x="459395" y="2874317"/>
          <a:ext cx="81820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022">
                  <a:extLst>
                    <a:ext uri="{9D8B030D-6E8A-4147-A177-3AD203B41FA5}">
                      <a16:colId xmlns:a16="http://schemas.microsoft.com/office/drawing/2014/main" val="2308549371"/>
                    </a:ext>
                  </a:extLst>
                </a:gridCol>
                <a:gridCol w="4091022">
                  <a:extLst>
                    <a:ext uri="{9D8B030D-6E8A-4147-A177-3AD203B41FA5}">
                      <a16:colId xmlns:a16="http://schemas.microsoft.com/office/drawing/2014/main" val="27611122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Блокчейн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6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Інфраструктура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7419595"/>
                  </a:ext>
                </a:extLst>
              </a:tr>
            </a:tbl>
          </a:graphicData>
        </a:graphic>
      </p:graphicFrame>
      <p:pic>
        <p:nvPicPr>
          <p:cNvPr id="1026" name="Picture 2" descr="Python – Бесплатные иконки: логотип">
            <a:extLst>
              <a:ext uri="{FF2B5EF4-FFF2-40B4-BE49-F238E27FC236}">
                <a16:creationId xmlns:a16="http://schemas.microsoft.com/office/drawing/2014/main" id="{3092BD3F-DFC7-8DCC-B4BE-35C9251C8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933" y="1409832"/>
            <a:ext cx="588624" cy="588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425AF71-9CB5-D35C-791A-C1D8A045A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846" y="1470030"/>
            <a:ext cx="1131175" cy="209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0CE4E7E-BFF3-06AF-19FF-E897664FB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527" y="1409832"/>
            <a:ext cx="679285" cy="700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FACE94F-7F90-415A-FB5D-9D4ECAC6A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1640" y="1664579"/>
            <a:ext cx="1163500" cy="5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DD269DDE-435F-9291-C780-207C4617C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86" y="3410000"/>
            <a:ext cx="441131" cy="686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Ethereum Sepolia RPCs (Add Ethereum Sepolia to Metamask) | RPC Info">
            <a:extLst>
              <a:ext uri="{FF2B5EF4-FFF2-40B4-BE49-F238E27FC236}">
                <a16:creationId xmlns:a16="http://schemas.microsoft.com/office/drawing/2014/main" id="{0A32CD69-D822-F359-1F9A-7B59D31CA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202" y="3364428"/>
            <a:ext cx="804919" cy="804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web3 Archives | Christopher Amato">
            <a:extLst>
              <a:ext uri="{FF2B5EF4-FFF2-40B4-BE49-F238E27FC236}">
                <a16:creationId xmlns:a16="http://schemas.microsoft.com/office/drawing/2014/main" id="{306F3BD7-C48C-10AF-567E-80C386B40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192" y="3547724"/>
            <a:ext cx="864926" cy="386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docker icon Download png">
            <a:extLst>
              <a:ext uri="{FF2B5EF4-FFF2-40B4-BE49-F238E27FC236}">
                <a16:creationId xmlns:a16="http://schemas.microsoft.com/office/drawing/2014/main" id="{F9B3F410-B774-7AAA-B7E5-0CAFA9512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7052" y="3447952"/>
            <a:ext cx="787341" cy="568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 descr="Jwt Icon icon - Free Download PNG &amp; SVG | Streamline">
            <a:extLst>
              <a:ext uri="{FF2B5EF4-FFF2-40B4-BE49-F238E27FC236}">
                <a16:creationId xmlns:a16="http://schemas.microsoft.com/office/drawing/2014/main" id="{A8DC5645-C372-201C-9863-510B567A9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592" y="2023271"/>
            <a:ext cx="478429" cy="47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 descr="REST API Documentation Tool | Swagger UI">
            <a:extLst>
              <a:ext uri="{FF2B5EF4-FFF2-40B4-BE49-F238E27FC236}">
                <a16:creationId xmlns:a16="http://schemas.microsoft.com/office/drawing/2014/main" id="{446EBA45-9D79-1B2B-D3C0-BFE73B3E6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857" y="2074049"/>
            <a:ext cx="497701" cy="497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Обзор рендеринга 2026: оценка 4.7/5 на основе 73 отзывов пользователей.">
            <a:extLst>
              <a:ext uri="{FF2B5EF4-FFF2-40B4-BE49-F238E27FC236}">
                <a16:creationId xmlns:a16="http://schemas.microsoft.com/office/drawing/2014/main" id="{02481FF6-A145-72BD-D277-218E2AAAE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212" y="3264641"/>
            <a:ext cx="952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6B244F3-2C9E-5A2F-EAFA-5B40022F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32" y="926592"/>
            <a:ext cx="7569936" cy="3867249"/>
          </a:xfrm>
          <a:prstGeom prst="rect">
            <a:avLst/>
          </a:prstGeom>
        </p:spPr>
      </p:pic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Архітектура створенного програмного забезпечення</a:t>
            </a:r>
            <a:endParaRPr sz="3200" dirty="0"/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Hard hat logo design template inspiration, vector ...">
            <a:extLst>
              <a:ext uri="{FF2B5EF4-FFF2-40B4-BE49-F238E27FC236}">
                <a16:creationId xmlns:a16="http://schemas.microsoft.com/office/drawing/2014/main" id="{AFE4AAB4-5341-3EDC-AA2D-DBA2786EA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5555" y="3405580"/>
            <a:ext cx="707439" cy="707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8" descr="Learn how to use TypeScript to build Angular Apps | malcoded.com">
            <a:extLst>
              <a:ext uri="{FF2B5EF4-FFF2-40B4-BE49-F238E27FC236}">
                <a16:creationId xmlns:a16="http://schemas.microsoft.com/office/drawing/2014/main" id="{2B577632-0334-70DD-8790-314B8AE08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412" y="2775911"/>
            <a:ext cx="1570800" cy="87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Опис програмного забезпечення, що було використано у дослідженні</a:t>
            </a:r>
            <a:endParaRPr sz="3200" dirty="0"/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A35EEF41-5B9E-4186-8855-3C8162DCC2D6}" type="slidenum">
              <a:rPr lang="uk-UA" smtClean="0">
                <a:latin typeface="Times" panose="02020603050405020304" pitchFamily="18" charset="0"/>
                <a:cs typeface="Times" panose="02020603050405020304" pitchFamily="18" charset="0"/>
              </a:rPr>
              <a:pPr algn="ctr"/>
              <a:t>7</a:t>
            </a:fld>
            <a:endParaRPr lang="uk-UA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6" name="Пряма сполучна лінія 5">
            <a:extLst>
              <a:ext uri="{FF2B5EF4-FFF2-40B4-BE49-F238E27FC236}">
                <a16:creationId xmlns:a16="http://schemas.microsoft.com/office/drawing/2014/main" id="{5F63049B-1A9E-7523-7776-320352EB96F2}"/>
              </a:ext>
            </a:extLst>
          </p:cNvPr>
          <p:cNvCxnSpPr>
            <a:cxnSpLocks/>
          </p:cNvCxnSpPr>
          <p:nvPr/>
        </p:nvCxnSpPr>
        <p:spPr>
          <a:xfrm>
            <a:off x="0" y="2579184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Пряма сполучна лінія 9">
            <a:extLst>
              <a:ext uri="{FF2B5EF4-FFF2-40B4-BE49-F238E27FC236}">
                <a16:creationId xmlns:a16="http://schemas.microsoft.com/office/drawing/2014/main" id="{25F87E99-57AF-4AE5-D7B0-694126D263A3}"/>
              </a:ext>
            </a:extLst>
          </p:cNvPr>
          <p:cNvCxnSpPr/>
          <p:nvPr/>
        </p:nvCxnSpPr>
        <p:spPr>
          <a:xfrm>
            <a:off x="921835" y="2315272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68DF4C-D7D0-DE8F-75A4-64009EE21156}"/>
              </a:ext>
            </a:extLst>
          </p:cNvPr>
          <p:cNvSpPr txBox="1"/>
          <p:nvPr/>
        </p:nvSpPr>
        <p:spPr>
          <a:xfrm>
            <a:off x="118949" y="1104251"/>
            <a:ext cx="176188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>
                <a:latin typeface="Times" panose="02020603050405020304" pitchFamily="18" charset="0"/>
                <a:cs typeface="Times" panose="02020603050405020304" pitchFamily="18" charset="0"/>
              </a:rPr>
              <a:t>Аналіз функціональних вимог та розробка UI-прототипу у Figma</a:t>
            </a:r>
            <a:endParaRPr lang="uk-UA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cxnSp>
        <p:nvCxnSpPr>
          <p:cNvPr id="13" name="Пряма сполучна лінія 12">
            <a:extLst>
              <a:ext uri="{FF2B5EF4-FFF2-40B4-BE49-F238E27FC236}">
                <a16:creationId xmlns:a16="http://schemas.microsoft.com/office/drawing/2014/main" id="{0D6EAE31-6915-5B0D-F23D-BCD0033E5200}"/>
              </a:ext>
            </a:extLst>
          </p:cNvPr>
          <p:cNvCxnSpPr/>
          <p:nvPr/>
        </p:nvCxnSpPr>
        <p:spPr>
          <a:xfrm>
            <a:off x="8078349" y="2315272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 сполучна лінія 13">
            <a:extLst>
              <a:ext uri="{FF2B5EF4-FFF2-40B4-BE49-F238E27FC236}">
                <a16:creationId xmlns:a16="http://schemas.microsoft.com/office/drawing/2014/main" id="{BB90A5A5-1F84-73BA-1C62-E9D12D568023}"/>
              </a:ext>
            </a:extLst>
          </p:cNvPr>
          <p:cNvCxnSpPr/>
          <p:nvPr/>
        </p:nvCxnSpPr>
        <p:spPr>
          <a:xfrm>
            <a:off x="3921513" y="2296222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5" name="Пряма сполучна лінія 14">
            <a:extLst>
              <a:ext uri="{FF2B5EF4-FFF2-40B4-BE49-F238E27FC236}">
                <a16:creationId xmlns:a16="http://schemas.microsoft.com/office/drawing/2014/main" id="{663974B3-D5AC-5860-2A8F-C8A7223A610C}"/>
              </a:ext>
            </a:extLst>
          </p:cNvPr>
          <p:cNvCxnSpPr/>
          <p:nvPr/>
        </p:nvCxnSpPr>
        <p:spPr>
          <a:xfrm>
            <a:off x="2479288" y="2296222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Пряма сполучна лінія 15">
            <a:extLst>
              <a:ext uri="{FF2B5EF4-FFF2-40B4-BE49-F238E27FC236}">
                <a16:creationId xmlns:a16="http://schemas.microsoft.com/office/drawing/2014/main" id="{9B02DB3D-F34B-FAE9-19B8-67C181C7D918}"/>
              </a:ext>
            </a:extLst>
          </p:cNvPr>
          <p:cNvCxnSpPr/>
          <p:nvPr/>
        </p:nvCxnSpPr>
        <p:spPr>
          <a:xfrm>
            <a:off x="5460380" y="2296222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AD06DA6-1E07-11E5-CF30-51F49401A200}"/>
              </a:ext>
            </a:extLst>
          </p:cNvPr>
          <p:cNvSpPr txBox="1"/>
          <p:nvPr/>
        </p:nvSpPr>
        <p:spPr>
          <a:xfrm>
            <a:off x="1590180" y="1180350"/>
            <a:ext cx="189942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Налаштування середовища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849F63-6B6B-5D64-0775-995A4191B554}"/>
              </a:ext>
            </a:extLst>
          </p:cNvPr>
          <p:cNvSpPr txBox="1"/>
          <p:nvPr/>
        </p:nvSpPr>
        <p:spPr>
          <a:xfrm>
            <a:off x="2822186" y="1079750"/>
            <a:ext cx="24123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Реалізація</a:t>
            </a:r>
          </a:p>
          <a:p>
            <a:pPr algn="ctr"/>
            <a:r>
              <a:rPr lang="en-US">
                <a:latin typeface="Times" panose="02020603050405020304" pitchFamily="18" charset="0"/>
                <a:cs typeface="Times" panose="02020603050405020304" pitchFamily="18" charset="0"/>
              </a:rPr>
              <a:t>backend-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частини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системи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CB65EE-795F-26CA-8C1E-22535E302431}"/>
              </a:ext>
            </a:extLst>
          </p:cNvPr>
          <p:cNvSpPr txBox="1"/>
          <p:nvPr/>
        </p:nvSpPr>
        <p:spPr>
          <a:xfrm>
            <a:off x="6175914" y="1079750"/>
            <a:ext cx="1219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Інтеграція 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блокчейну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DE55B7-DEC4-08D5-F96A-5CEB8AB6280F}"/>
              </a:ext>
            </a:extLst>
          </p:cNvPr>
          <p:cNvSpPr txBox="1"/>
          <p:nvPr/>
        </p:nvSpPr>
        <p:spPr>
          <a:xfrm>
            <a:off x="4744845" y="1109087"/>
            <a:ext cx="14310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Реалізація</a:t>
            </a:r>
          </a:p>
          <a:p>
            <a:pPr algn="ctr"/>
            <a:r>
              <a:rPr lang="en-US">
                <a:latin typeface="Times" panose="02020603050405020304" pitchFamily="18" charset="0"/>
                <a:cs typeface="Times" panose="02020603050405020304" pitchFamily="18" charset="0"/>
              </a:rPr>
              <a:t>frontend-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частини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системи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A4F5946-57FC-0028-D500-FAB916444B70}"/>
              </a:ext>
            </a:extLst>
          </p:cNvPr>
          <p:cNvSpPr txBox="1"/>
          <p:nvPr/>
        </p:nvSpPr>
        <p:spPr>
          <a:xfrm>
            <a:off x="7236433" y="1109087"/>
            <a:ext cx="16838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Тестування 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функціональності</a:t>
            </a:r>
          </a:p>
          <a:p>
            <a:pPr algn="ctr"/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та розгортання</a:t>
            </a:r>
          </a:p>
        </p:txBody>
      </p:sp>
      <p:cxnSp>
        <p:nvCxnSpPr>
          <p:cNvPr id="27" name="Пряма сполучна лінія 26">
            <a:extLst>
              <a:ext uri="{FF2B5EF4-FFF2-40B4-BE49-F238E27FC236}">
                <a16:creationId xmlns:a16="http://schemas.microsoft.com/office/drawing/2014/main" id="{A3FCB4D1-59AA-24ED-8380-8566F441D5F6}"/>
              </a:ext>
            </a:extLst>
          </p:cNvPr>
          <p:cNvCxnSpPr/>
          <p:nvPr/>
        </p:nvCxnSpPr>
        <p:spPr>
          <a:xfrm>
            <a:off x="6802243" y="2299474"/>
            <a:ext cx="0" cy="5278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8" name="Picture 2" descr="Angular icon vector logo in (eps, svg) for free - Brandlogos.net">
            <a:extLst>
              <a:ext uri="{FF2B5EF4-FFF2-40B4-BE49-F238E27FC236}">
                <a16:creationId xmlns:a16="http://schemas.microsoft.com/office/drawing/2014/main" id="{EA7542D9-41F1-FE0B-E834-8ADBBA81E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570" y="2975790"/>
            <a:ext cx="414478" cy="438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6" descr="Бесплатный VPN для Figma 2025 – быстрый и безопасный доступ | FineVPN">
            <a:extLst>
              <a:ext uri="{FF2B5EF4-FFF2-40B4-BE49-F238E27FC236}">
                <a16:creationId xmlns:a16="http://schemas.microsoft.com/office/drawing/2014/main" id="{854FFA7D-1297-AC8D-2EAD-E01C70E44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97" y="3042880"/>
            <a:ext cx="651942" cy="65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4" descr="HTML5 — Википедия">
            <a:extLst>
              <a:ext uri="{FF2B5EF4-FFF2-40B4-BE49-F238E27FC236}">
                <a16:creationId xmlns:a16="http://schemas.microsoft.com/office/drawing/2014/main" id="{88F35984-CBE7-B9A2-22BE-6CB661D8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411" y="3568968"/>
            <a:ext cx="572939" cy="57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14" descr="Using Sass &amp; PostCSS Together">
            <a:extLst>
              <a:ext uri="{FF2B5EF4-FFF2-40B4-BE49-F238E27FC236}">
                <a16:creationId xmlns:a16="http://schemas.microsoft.com/office/drawing/2014/main" id="{B8B75193-4FA1-018C-B3EC-46B21F331C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351" y="3618554"/>
            <a:ext cx="448948" cy="4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2" descr="docker icon Download png">
            <a:extLst>
              <a:ext uri="{FF2B5EF4-FFF2-40B4-BE49-F238E27FC236}">
                <a16:creationId xmlns:a16="http://schemas.microsoft.com/office/drawing/2014/main" id="{DDD95E53-E04C-D28C-BE30-D3823AB11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5095" y="3068221"/>
            <a:ext cx="555132" cy="401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2B5D730D-8B91-10B8-1F50-8CA488122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018" y="3454799"/>
            <a:ext cx="471003" cy="48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3C6A33F-640C-7B25-6FD1-4E50CB6880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90"/>
          <a:stretch>
            <a:fillRect/>
          </a:stretch>
        </p:blipFill>
        <p:spPr bwMode="auto">
          <a:xfrm>
            <a:off x="3707314" y="2940209"/>
            <a:ext cx="420412" cy="39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0" descr="GitHub icon in iOS Filled Style">
            <a:extLst>
              <a:ext uri="{FF2B5EF4-FFF2-40B4-BE49-F238E27FC236}">
                <a16:creationId xmlns:a16="http://schemas.microsoft.com/office/drawing/2014/main" id="{3C53C30C-3953-ED44-370B-DED300F3D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40" y="3549450"/>
            <a:ext cx="572939" cy="572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Python – Бесплатные иконки: логотип">
            <a:extLst>
              <a:ext uri="{FF2B5EF4-FFF2-40B4-BE49-F238E27FC236}">
                <a16:creationId xmlns:a16="http://schemas.microsoft.com/office/drawing/2014/main" id="{EB6FDA01-D695-FCB9-F939-C9BC52F47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2204" y="4056656"/>
            <a:ext cx="448947" cy="448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>
            <a:extLst>
              <a:ext uri="{FF2B5EF4-FFF2-40B4-BE49-F238E27FC236}">
                <a16:creationId xmlns:a16="http://schemas.microsoft.com/office/drawing/2014/main" id="{2EFBE7A4-3732-4B6E-705D-79BA4BC49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551" y="3034608"/>
            <a:ext cx="346696" cy="5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Ethereum Sepolia RPCs (Add Ethereum Sepolia to Metamask) | RPC Info">
            <a:extLst>
              <a:ext uri="{FF2B5EF4-FFF2-40B4-BE49-F238E27FC236}">
                <a16:creationId xmlns:a16="http://schemas.microsoft.com/office/drawing/2014/main" id="{58C017C7-EF76-5F23-F79A-1DE8C7FE2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975" y="2973419"/>
            <a:ext cx="643000" cy="6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8" descr="web3 Archives | Christopher Amato">
            <a:extLst>
              <a:ext uri="{FF2B5EF4-FFF2-40B4-BE49-F238E27FC236}">
                <a16:creationId xmlns:a16="http://schemas.microsoft.com/office/drawing/2014/main" id="{22679487-A69F-753D-9A8A-02A370C8C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764" y="3706259"/>
            <a:ext cx="733938" cy="327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ytest SVG and transparent PNG icons | TechIcons">
            <a:extLst>
              <a:ext uri="{FF2B5EF4-FFF2-40B4-BE49-F238E27FC236}">
                <a16:creationId xmlns:a16="http://schemas.microsoft.com/office/drawing/2014/main" id="{FF735AC5-91CC-94AB-624D-6B5E059D5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970" y="2881273"/>
            <a:ext cx="735146" cy="735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32" descr="REST API Documentation Tool | Swagger UI">
            <a:extLst>
              <a:ext uri="{FF2B5EF4-FFF2-40B4-BE49-F238E27FC236}">
                <a16:creationId xmlns:a16="http://schemas.microsoft.com/office/drawing/2014/main" id="{15CE9B53-B3E2-B019-E85D-A10566914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7467" y="3021917"/>
            <a:ext cx="410214" cy="410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34" descr="Обзор рендеринга 2026: оценка 4.7/5 на основе 73 отзывов пользователей.">
            <a:extLst>
              <a:ext uri="{FF2B5EF4-FFF2-40B4-BE49-F238E27FC236}">
                <a16:creationId xmlns:a16="http://schemas.microsoft.com/office/drawing/2014/main" id="{0ED577D1-4A38-2F9C-8B56-C3FE79533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3626" y="3977816"/>
            <a:ext cx="448948" cy="448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test icon - Free Download PNG &amp; SVG | Streamline">
            <a:extLst>
              <a:ext uri="{FF2B5EF4-FFF2-40B4-BE49-F238E27FC236}">
                <a16:creationId xmlns:a16="http://schemas.microsoft.com/office/drawing/2014/main" id="{75172126-6F95-0051-16BA-607C4E93DB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774" y="3536360"/>
            <a:ext cx="441405" cy="441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DF9353-6D99-52BB-5341-E06D2C3EA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71" y="860792"/>
            <a:ext cx="8488429" cy="3130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4D3745F8-17AA-D725-0FD5-454595F4D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FE19DA-69EC-D3F9-9AC5-57B82103B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42" y="603697"/>
            <a:ext cx="8389398" cy="3644519"/>
          </a:xfrm>
          <a:prstGeom prst="rect">
            <a:avLst/>
          </a:prstGeom>
        </p:spPr>
      </p:pic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D1E026BD-4C88-6CBD-BA12-850C95970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E82BB-73F9-B182-11FA-7B85F68AECD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115" name="Google Shape;115;p20">
            <a:extLst>
              <a:ext uri="{FF2B5EF4-FFF2-40B4-BE49-F238E27FC236}">
                <a16:creationId xmlns:a16="http://schemas.microsoft.com/office/drawing/2014/main" id="{BDEB5A57-45D3-E78A-7325-FF9A01B108F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933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3A52EA9-442C-44E7-FB92-A14A52DEB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>
            <a:extLst>
              <a:ext uri="{FF2B5EF4-FFF2-40B4-BE49-F238E27FC236}">
                <a16:creationId xmlns:a16="http://schemas.microsoft.com/office/drawing/2014/main" id="{B03016E3-0C92-7C8F-AEDE-01B76250D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7BE305-85D7-30C2-DF4A-D1C2FF1BA60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pic>
        <p:nvPicPr>
          <p:cNvPr id="115" name="Google Shape;115;p20">
            <a:extLst>
              <a:ext uri="{FF2B5EF4-FFF2-40B4-BE49-F238E27FC236}">
                <a16:creationId xmlns:a16="http://schemas.microsoft.com/office/drawing/2014/main" id="{DC7DFC1D-4AEE-610D-E66F-88997657763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86;p16">
            <a:extLst>
              <a:ext uri="{FF2B5EF4-FFF2-40B4-BE49-F238E27FC236}">
                <a16:creationId xmlns:a16="http://schemas.microsoft.com/office/drawing/2014/main" id="{D04DA071-4653-9836-CCFA-5FBBCEDFB5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8924" y="664059"/>
            <a:ext cx="8563375" cy="42691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uk-UA" b="1">
                <a:latin typeface="Times" panose="02020603050405020304" pitchFamily="18" charset="0"/>
                <a:cs typeface="Times" panose="02020603050405020304" pitchFamily="18" charset="0"/>
              </a:rPr>
              <a:t>Що нас відрізняє?</a:t>
            </a:r>
            <a:endParaRPr lang="uk-UA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Єдина платформа, що поєднує блокчейн-прозорість, криптографічну верифікацію та зручний інтерфейс для всіх ролей;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виборець може самостійно підтвердити зарахування свого голосу через </a:t>
            </a:r>
            <a:r>
              <a:rPr lang="en-GB">
                <a:latin typeface="Times" panose="02020603050405020304" pitchFamily="18" charset="0"/>
                <a:cs typeface="Times" panose="02020603050405020304" pitchFamily="18" charset="0"/>
              </a:rPr>
              <a:t>merkle proof 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та </a:t>
            </a:r>
            <a:r>
              <a:rPr lang="en-GB">
                <a:latin typeface="Times" panose="02020603050405020304" pitchFamily="18" charset="0"/>
                <a:cs typeface="Times" panose="02020603050405020304" pitchFamily="18" charset="0"/>
              </a:rPr>
              <a:t>Etherscan — 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незалежно від платформи;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повний цикл керування голосуванням: від створення та запрошень через </a:t>
            </a:r>
            <a:r>
              <a:rPr lang="en-GB">
                <a:latin typeface="Times" panose="02020603050405020304" pitchFamily="18" charset="0"/>
                <a:cs typeface="Times" panose="02020603050405020304" pitchFamily="18" charset="0"/>
              </a:rPr>
              <a:t>QR-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код і </a:t>
            </a:r>
            <a:r>
              <a:rPr lang="en-GB">
                <a:latin typeface="Times" panose="02020603050405020304" pitchFamily="18" charset="0"/>
                <a:cs typeface="Times" panose="02020603050405020304" pitchFamily="18" charset="0"/>
              </a:rPr>
              <a:t>CSV </a:t>
            </a: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до автоматичної фіналізації та публічних результатів;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uk-UA">
                <a:latin typeface="Times" panose="02020603050405020304" pitchFamily="18" charset="0"/>
                <a:cs typeface="Times" panose="02020603050405020304" pitchFamily="18" charset="0"/>
              </a:rPr>
              <a:t>відкритий код, адаптивний інтерфейс з підтримкою двох мов та адміністративна панель з моніторингом і резервним копіюванням.</a:t>
            </a:r>
          </a:p>
        </p:txBody>
      </p:sp>
    </p:spTree>
    <p:extLst>
      <p:ext uri="{BB962C8B-B14F-4D97-AF65-F5344CB8AC3E}">
        <p14:creationId xmlns:p14="http://schemas.microsoft.com/office/powerpoint/2010/main" val="4114576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7ACE636-E293-21F8-7470-588C434B1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F20CA6A0-5A81-316E-53EE-704D04E562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E37BF9F1-AEED-5D3E-DE23-26058C805BC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0EE0BF-BB1C-DA4A-E9E3-DF87484F850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E13783-A00A-A5F3-A169-FB9C15D34D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93"/>
          <a:stretch>
            <a:fillRect/>
          </a:stretch>
        </p:blipFill>
        <p:spPr>
          <a:xfrm>
            <a:off x="396700" y="1554568"/>
            <a:ext cx="3926742" cy="203436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5F7DDA-9627-946E-B8B3-253D91E2ED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38"/>
          <a:stretch>
            <a:fillRect/>
          </a:stretch>
        </p:blipFill>
        <p:spPr>
          <a:xfrm>
            <a:off x="4323442" y="1020065"/>
            <a:ext cx="4596824" cy="31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2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12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5E8E812-AA1C-85D4-2DE1-689445A9C1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667" y="1997631"/>
            <a:ext cx="4240333" cy="9017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AF5CF4-34ED-8D91-142D-9EB324D21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675" y="676121"/>
            <a:ext cx="3533313" cy="4026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FD38E51-BB86-6AA7-034E-ACC1F2592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0A3FA79-D585-910E-5EB4-E9BA04F67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Приклад реалізації</a:t>
            </a:r>
            <a:endParaRPr sz="3200" dirty="0"/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FC91FA64-15DC-1B3B-1AF4-B3EA9EE0ED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06D6A6-9B93-9AAF-E056-06AC93916150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13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74E319-6673-FB5E-56B0-49E470ED7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1136906"/>
            <a:ext cx="3401433" cy="301083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397D068-7902-4CE2-2443-374FCF63A7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0104" y="788247"/>
            <a:ext cx="5090162" cy="370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59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14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834BAA-EFE1-E028-AD94-341441638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636" y="687680"/>
            <a:ext cx="7386727" cy="35063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858009B-4325-18A7-EFDA-C7727115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60D2431D-C747-D952-884D-F62739BC1F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A7A514EE-A5C0-0EF5-0B7E-B537CB8B0A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ADC7E3-9D80-4DC5-103E-D3F04789B486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15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28D23FF-3B0B-DA31-2493-1C5F028FF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55" y="687680"/>
            <a:ext cx="7588889" cy="358247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2911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D84497C4-98AA-3025-1A8A-1FA9961A8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21614D47-67CD-F1CA-BCBB-13FDC6059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EDEAC491-99CE-62AA-23A0-4AF459916B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76B8407-92CA-C9DE-11F2-9D974B8E8E8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16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4F6737-05B6-A4D5-F66E-6F4E285E6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83" y="687680"/>
            <a:ext cx="7406434" cy="354646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97918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1E0B9F62-8676-CD68-58BE-19C7B9FC4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C73CFC23-E5FA-53F4-F7A8-4FF944B90B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FE077E08-3E4E-4BE1-CA15-DBC0AE7A75B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81EB15B-2EBC-42B5-AFD7-263F7CB1CCA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17</a:t>
            </a:fld>
            <a:endParaRPr lang="uk-UA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855A31B-0978-C8FD-A5F3-9F93BE579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98" y="687680"/>
            <a:ext cx="7311404" cy="351902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9078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EF7C42C8-C8DB-78F5-C06F-642BD765C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2D79166D-613E-1A8C-15EA-2A8A633E5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8B38EBFF-A13B-1B0A-677F-EB87C4E461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CA59D8-91EE-E738-A6D9-E0A8F7B2DAB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18</a:t>
            </a:fld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B21B258-7B08-4C4D-1285-6440F52B8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19" y="687680"/>
            <a:ext cx="7506562" cy="36091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01770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E85CB67-4D93-260E-FAD5-BD6DF9324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BBE65EF8-6573-5279-6BCA-2FF0F70AB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D787E19C-D2D4-E1F9-0053-166471AA92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A4C808-0900-4DDE-4B96-B0312677AD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19</a:t>
            </a:fld>
            <a:endParaRPr lang="uk-UA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274B408-F6DC-545E-9D7D-A43739B8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23" y="687680"/>
            <a:ext cx="7492753" cy="357868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0855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61BBF6D7-DBBC-2DD2-153A-E633A37EB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403E507B-F4F6-28DF-405C-BDDF90B565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B3CD2-DF76-15C5-1655-B40AA27CE2A1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20</a:t>
            </a:fld>
            <a:endParaRPr lang="uk-UA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1FDD010A-FB92-0ED6-3B89-3918BDD6F23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32376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7F066A-5551-34A4-CD34-C9A281160F0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2" r="32581"/>
          <a:stretch>
            <a:fillRect/>
          </a:stretch>
        </p:blipFill>
        <p:spPr>
          <a:xfrm>
            <a:off x="1406205" y="754919"/>
            <a:ext cx="6331585" cy="65057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C9CDD7-4251-51AD-6D14-E49B5EB2B4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5355"/>
          <a:stretch>
            <a:fillRect/>
          </a:stretch>
        </p:blipFill>
        <p:spPr>
          <a:xfrm>
            <a:off x="1406205" y="1508708"/>
            <a:ext cx="6331585" cy="142961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081BEC-E9CE-CCF0-C082-B6279CE60A7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3118" r="31283" b="-766"/>
          <a:stretch>
            <a:fillRect/>
          </a:stretch>
        </p:blipFill>
        <p:spPr>
          <a:xfrm>
            <a:off x="1406205" y="3058327"/>
            <a:ext cx="6331585" cy="97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46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702256B2-3C1D-79E2-932B-693005807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0576AA4F-888A-0B5E-986F-3402282A1D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Тестування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96838C-373B-A58C-06B6-D1187EDD50E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21</a:t>
            </a:fld>
            <a:endParaRPr lang="uk-UA" dirty="0"/>
          </a:p>
        </p:txBody>
      </p:sp>
      <p:graphicFrame>
        <p:nvGraphicFramePr>
          <p:cNvPr id="6" name="Таблиця 5">
            <a:extLst>
              <a:ext uri="{FF2B5EF4-FFF2-40B4-BE49-F238E27FC236}">
                <a16:creationId xmlns:a16="http://schemas.microsoft.com/office/drawing/2014/main" id="{44EED079-B4FB-34ED-69C1-8CCEFD8626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743495"/>
              </p:ext>
            </p:extLst>
          </p:nvPr>
        </p:nvGraphicFramePr>
        <p:xfrm>
          <a:off x="354475" y="539750"/>
          <a:ext cx="8435049" cy="4183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80651">
                  <a:extLst>
                    <a:ext uri="{9D8B030D-6E8A-4147-A177-3AD203B41FA5}">
                      <a16:colId xmlns:a16="http://schemas.microsoft.com/office/drawing/2014/main" val="622180328"/>
                    </a:ext>
                  </a:extLst>
                </a:gridCol>
                <a:gridCol w="3130425">
                  <a:extLst>
                    <a:ext uri="{9D8B030D-6E8A-4147-A177-3AD203B41FA5}">
                      <a16:colId xmlns:a16="http://schemas.microsoft.com/office/drawing/2014/main" val="960596604"/>
                    </a:ext>
                  </a:extLst>
                </a:gridCol>
                <a:gridCol w="3653835">
                  <a:extLst>
                    <a:ext uri="{9D8B030D-6E8A-4147-A177-3AD203B41FA5}">
                      <a16:colId xmlns:a16="http://schemas.microsoft.com/office/drawing/2014/main" val="1058787303"/>
                    </a:ext>
                  </a:extLst>
                </a:gridCol>
                <a:gridCol w="1270138">
                  <a:extLst>
                    <a:ext uri="{9D8B030D-6E8A-4147-A177-3AD203B41FA5}">
                      <a16:colId xmlns:a16="http://schemas.microsoft.com/office/drawing/2014/main" val="668546066"/>
                    </a:ext>
                  </a:extLst>
                </a:gridCol>
              </a:tblGrid>
              <a:tr h="360000">
                <a:tc gridSpan="4"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Передумова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7159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 випадку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Висновок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749029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Відкрити веб-застосунок та авторизуватись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Авторизацію виконано, користувача перенаправлено на головну сторінку застосунку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68476"/>
                  </a:ext>
                </a:extLst>
              </a:tr>
              <a:tr h="360000">
                <a:tc gridSpan="4"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Участь в голосуванні</a:t>
                      </a: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uk-UA" sz="12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95405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 випадку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Очікуваний результат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Висновок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07126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Натиснути на кнопку «Проголосувати»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Сторінку голосування завантажено, відображено бюлетень із варіантами відповіді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66676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Спробувати перейти до кроку 2 без вибору варіанта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Кнопка переходу неактивна, перехід неможливий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  <a:endParaRPr lang="uk-UA" sz="12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52694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Обрати один із варіантів відповіді на кроці 1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Варіант виділено, кнопка «Переглянути мій вибір» стала активною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447093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Перейти до кроку 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Відображено обраний варіант та попередження про незмінність голосу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193667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Натиснути «Подати голос»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Голос подано, відображено крок 3 з криптографічною квитанцією</a:t>
                      </a:r>
                      <a:endParaRPr lang="uk-UA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Пройдено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12224"/>
                  </a:ext>
                </a:extLst>
              </a:tr>
            </a:tbl>
          </a:graphicData>
        </a:graphic>
      </p:graphicFrame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FD276581-73C9-C21B-B719-3C4818E7CED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32376"/>
            <a:ext cx="862250" cy="581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7744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D02A7C86-EE96-0E10-7C4F-757AA446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>
            <a:extLst>
              <a:ext uri="{FF2B5EF4-FFF2-40B4-BE49-F238E27FC236}">
                <a16:creationId xmlns:a16="http://schemas.microsoft.com/office/drawing/2014/main" id="{CEB57F43-D056-F678-76B4-34FED79568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/>
              <a:t>Публікація результатів</a:t>
            </a:r>
            <a:endParaRPr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7AEB1-1F9E-A0C9-E25B-B1A51ECB302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22</a:t>
            </a:fld>
            <a:endParaRPr lang="uk-UA" dirty="0"/>
          </a:p>
        </p:txBody>
      </p:sp>
      <p:pic>
        <p:nvPicPr>
          <p:cNvPr id="129" name="Google Shape;129;p22">
            <a:extLst>
              <a:ext uri="{FF2B5EF4-FFF2-40B4-BE49-F238E27FC236}">
                <a16:creationId xmlns:a16="http://schemas.microsoft.com/office/drawing/2014/main" id="{EC50BFD0-6A9C-A000-2050-0B04F65FF42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32376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F85EB0-9C78-C202-B5DB-01AA033DB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77" y="1152897"/>
            <a:ext cx="3779030" cy="267160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148EED-865F-8CAC-3FC8-6E20867E1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273" y="644559"/>
            <a:ext cx="2719798" cy="381151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3027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23</a:t>
            </a:fld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2CD38-0159-B50F-2294-2F2B3AA614B9}"/>
              </a:ext>
            </a:extLst>
          </p:cNvPr>
          <p:cNvSpPr txBox="1"/>
          <p:nvPr/>
        </p:nvSpPr>
        <p:spPr>
          <a:xfrm>
            <a:off x="377284" y="796012"/>
            <a:ext cx="8455016" cy="3513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uk-UA" sz="1500" b="1">
                <a:latin typeface="Times" panose="02020603050405020304" pitchFamily="18" charset="0"/>
                <a:cs typeface="Times" panose="02020603050405020304" pitchFamily="18" charset="0"/>
              </a:rPr>
              <a:t>Результати: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розроблено повностекову веб-платформу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VoteMe 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з відкритим кодом та розгорнуто на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Render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  <a:endParaRPr lang="en-GB" sz="15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реалізовано криптографічну верифікацію голосу через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commitment hash 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та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Merkle proof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  <a:endParaRPr lang="en-GB" sz="15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результати голосувань зафіксовано в мережі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Ethereum Sepolia 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публічно та незмінно.</a:t>
            </a:r>
          </a:p>
          <a:p>
            <a:pPr>
              <a:lnSpc>
                <a:spcPct val="150000"/>
              </a:lnSpc>
            </a:pPr>
            <a:r>
              <a:rPr lang="uk-UA" sz="1500" b="1">
                <a:latin typeface="Times" panose="02020603050405020304" pitchFamily="18" charset="0"/>
                <a:cs typeface="Times" panose="02020603050405020304" pitchFamily="18" charset="0"/>
              </a:rPr>
              <a:t>Можливості використання: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корпоративні голосування, студентські вибори, громадські опитування;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будь-який сценарій, де важлива прозорість та незалежна верифікація результатів.</a:t>
            </a:r>
          </a:p>
          <a:p>
            <a:pPr>
              <a:lnSpc>
                <a:spcPct val="150000"/>
              </a:lnSpc>
            </a:pPr>
            <a:r>
              <a:rPr lang="uk-UA" sz="1500" b="1">
                <a:latin typeface="Times" panose="02020603050405020304" pitchFamily="18" charset="0"/>
                <a:cs typeface="Times" panose="02020603050405020304" pitchFamily="18" charset="0"/>
              </a:rPr>
              <a:t>Подальший розвиток: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перехід з тестової мережі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Sepolia 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на основну мережу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Ethereum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;</a:t>
            </a:r>
            <a:endParaRPr lang="en-GB" sz="150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мобільний застосунок та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OAuth2-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авторизація через </a:t>
            </a:r>
            <a:r>
              <a:rPr lang="en-GB" sz="1500">
                <a:latin typeface="Times" panose="02020603050405020304" pitchFamily="18" charset="0"/>
                <a:cs typeface="Times" panose="02020603050405020304" pitchFamily="18" charset="0"/>
              </a:rPr>
              <a:t>Google/GitHub</a:t>
            </a:r>
            <a:r>
              <a:rPr lang="uk-UA" sz="1500">
                <a:latin typeface="Times" panose="02020603050405020304" pitchFamily="18" charset="0"/>
                <a:cs typeface="Times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9696</TotalTime>
  <Words>665</Words>
  <Application>Microsoft Office PowerPoint</Application>
  <PresentationFormat>Екран (16:9)</PresentationFormat>
  <Paragraphs>152</Paragraphs>
  <Slides>23</Slides>
  <Notes>23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23</vt:i4>
      </vt:variant>
    </vt:vector>
  </HeadingPairs>
  <TitlesOfParts>
    <vt:vector size="29" baseType="lpstr">
      <vt:lpstr>Open Sans</vt:lpstr>
      <vt:lpstr>Times New Roman</vt:lpstr>
      <vt:lpstr>Times</vt:lpstr>
      <vt:lpstr>Arial</vt:lpstr>
      <vt:lpstr>Economica</vt:lpstr>
      <vt:lpstr>Шаблон презентації кваліфікаційної роботи магістрів</vt:lpstr>
      <vt:lpstr>Презентація PowerPoint</vt:lpstr>
      <vt:lpstr>Мета роботи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Опис програмного забезпечення, що було використано у дослідженні</vt:lpstr>
      <vt:lpstr>Дизайн системи</vt:lpstr>
      <vt:lpstr>Дизайн системи</vt:lpstr>
      <vt:lpstr>Дизайн системи</vt:lpstr>
      <vt:lpstr>Приклад реалізації</vt:lpstr>
      <vt:lpstr>Приклад реалізації</vt:lpstr>
      <vt:lpstr>Приклад реалізації</vt:lpstr>
      <vt:lpstr>Інтерфейс користувача </vt:lpstr>
      <vt:lpstr>Інтерфейс користувача </vt:lpstr>
      <vt:lpstr>Інтерфейс користувача </vt:lpstr>
      <vt:lpstr>Інтерфейс користувача </vt:lpstr>
      <vt:lpstr>Інтерфейс користувача </vt:lpstr>
      <vt:lpstr>Інтерфейс користувача </vt:lpstr>
      <vt:lpstr>Тестування</vt:lpstr>
      <vt:lpstr>Тестування</vt:lpstr>
      <vt:lpstr>Публікація результатів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Vera Kalenik</dc:creator>
  <cp:lastModifiedBy>Vera Kalenik</cp:lastModifiedBy>
  <cp:revision>15</cp:revision>
  <dcterms:created xsi:type="dcterms:W3CDTF">2025-05-29T01:22:26Z</dcterms:created>
  <dcterms:modified xsi:type="dcterms:W3CDTF">2026-07-03T22:35:13Z</dcterms:modified>
</cp:coreProperties>
</file>